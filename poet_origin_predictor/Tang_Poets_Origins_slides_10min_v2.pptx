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Today I'd like to ask a very old question with a very new instrument: can you tell where a poet came from, just by reading their poems? We take the Complete Tang Poems — 49,000 of them — and treat this as a prediction problem.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regional-schools debate is old; what's been missing is quantification. We treat it as a measurement problem: predict each poet's home circuit from text alone. Three RQs: prediction, signal, persistence. Design principle: interpretability — features a literary historian can read and contest.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Tang Poems, 900 volumes, ~49k poems into poet-level corpora. Birthplaces via CBDB; filter to &gt;=5 poems, unambiguous attribution: 357 poets across ten circuits, 242 South/North. Flag now: heavy imbalance — Jiangnan 126, Longyou 6 — hence balanced weights + macro-F1.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grains. South/North — the headline: five southern vs five northern circuits, 242 poets. Three macro-regions — a different axis: Southeast (Jiangnan+Huainan), Central Plains, Frontier. Ten circuits — the full map, hardest. Note: S/N and macro are two different hypotheses, not a nested hierarchy — Shannan, Jiannan, Lingnan are 'south' on one axis, 'frontier' on the other.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Workhorse: character n-gram TF-IDF — no segmentation, no modern linguistic assumptions. On top, readable features: imagery, seasons, allusion, lexical richness, approximate tone. Five models incl. GuwenBERT, stratified 5-fold CV, balanced weights; baseline 0.53.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it be done? Yes. Baseline 0.53 -&gt; LogReg 0.60, SVM 0.64, RF 0.67, MLP 0.69. Macro-F1 0.35 -&gt; 0.69, so not an imbalance artefact. Origin is readable from text alone.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Harder maps: South/North 0.69, three macro-regions 0.43, full ten-circuit task 0.18 — each roughly TWICE its own baseline. Ten-way with six-poet classes is brutal; doubling baseline there is the surprise.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the signal on the map? Two facts: capitals blur into one court idiom; Jiangnan stands apart at recall 0.71. Careful: NOT a distance law — full fit non-significant, slope reverses without Jiangnan. Two facts, not one gradient.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RQ2: the South writes landscape — mountain/water imagery, Buddhist and recluse vocabulary. The North writes the court — palace diction, gongti motifs. Tone is weak. The fingerprint lives in what poets SEE, not how verses scan.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RQ3: 0.41 early Tang — southerners wrote the northern court idiom, and all 7 full-model errors in that era run S-&gt;N. 0.50 at chance at the empire's height, 0.53 after An Lushan, 0.68 late Tang. Distinctiveness moves with political integration — now with numbers.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Wouldn't a transformer see more? Naive fine-tuning 0.62 — below n-grams. Hierarchical frozen encoder 0.674 — ties classical. Hybrid adds nothing. N-grams already capture the signal; interpretability costs nothing. Caveats in one breath: small samples, inherited label noise, approximate tone, suggestive geography — all point the same way.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origin leaves a detectable trace — carried by imagery and lexical choice, not a simple distance law, modulated by history. Next: stylistic similarity networks. 文如其地 — the text is like its land. Thank you.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17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ARXIV 2606.24093 · COMPUTATIONAL LITERARY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83080"/>
            <a:ext cx="8961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 i="0">
                <a:solidFill>
                  <a:srgbClr val="F2EEE7"/>
                </a:solidFill>
                <a:latin typeface="Georgia"/>
              </a:rPr>
              <a:t>Predicting Poets' Origins from 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C9C2B8"/>
                </a:solidFill>
                <a:latin typeface="Calibri"/>
              </a:rPr>
              <a:t>Regional linguistic fingerprints in the </a:t>
            </a:r>
            <a:r>
              <a:rPr sz="1700" b="0" i="1">
                <a:solidFill>
                  <a:srgbClr val="C9C2B8"/>
                </a:solidFill>
                <a:latin typeface="Calibri"/>
              </a:rPr>
              <a:t>Complete Tang Poems</a:t>
            </a:r>
            <a:r>
              <a:rPr sz="1700" b="0" i="0">
                <a:solidFill>
                  <a:srgbClr val="C9C2B8"/>
                </a:solidFill>
                <a:latin typeface="Calibri"/>
              </a:rPr>
              <a:t>  全唐詩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976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Chi-Sheng Chen</a:t>
            </a:r>
            <a:r>
              <a:rPr sz="1400" b="0" i="0">
                <a:solidFill>
                  <a:srgbClr val="8C8478"/>
                </a:solidFill>
                <a:latin typeface="Calibri"/>
              </a:rPr>
              <a:t>   Harvard University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Hung-Yun Liu</a:t>
            </a:r>
            <a:r>
              <a:rPr sz="1400" b="0" i="0">
                <a:solidFill>
                  <a:srgbClr val="8C8478"/>
                </a:solidFill>
                <a:latin typeface="Calibri"/>
              </a:rPr>
              <a:t>   University of Washington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893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10-minute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051560"/>
            <a:ext cx="548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 i="0">
                <a:solidFill>
                  <a:srgbClr val="C9C2B8"/>
                </a:solidFill>
                <a:latin typeface="Calibri"/>
              </a:rPr>
              <a:t>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011680"/>
            <a:ext cx="548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 i="0">
                <a:solidFill>
                  <a:srgbClr val="C9C2B8"/>
                </a:solidFill>
                <a:latin typeface="Calibri"/>
              </a:rPr>
              <a:t>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971800"/>
            <a:ext cx="548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 i="0">
                <a:solidFill>
                  <a:srgbClr val="C9C2B8"/>
                </a:solidFill>
                <a:latin typeface="Calibri"/>
              </a:rPr>
              <a:t>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3931920"/>
            <a:ext cx="548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 i="0">
                <a:solidFill>
                  <a:srgbClr val="C9C2B8"/>
                </a:solidFill>
                <a:latin typeface="Calibri"/>
              </a:rPr>
              <a:t>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20272" y="5120640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Can a poem betray where its poet came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246888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2E2723"/>
                </a:solidFill>
                <a:latin typeface="Calibri"/>
              </a:rPr>
              <a:t>Literary historians have long debated regional schools 地域流派 in Tang poetry — </a:t>
            </a:r>
            <a:r>
              <a:rPr sz="1500" b="1" i="0">
                <a:solidFill>
                  <a:srgbClr val="2E2723"/>
                </a:solidFill>
                <a:latin typeface="Calibri"/>
              </a:rPr>
              <a:t>yet whether geographic origin shows up as quantifiable patterns in poetic language has resisted systematic study.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2E2723"/>
                </a:solidFill>
                <a:latin typeface="Calibri"/>
              </a:rPr>
              <a:t>We treat it as a measurement problem: </a:t>
            </a:r>
            <a:r>
              <a:rPr sz="1500" b="1" i="0">
                <a:solidFill>
                  <a:srgbClr val="A63C2A"/>
                </a:solidFill>
                <a:latin typeface="Calibri"/>
              </a:rPr>
              <a:t>read ~49,000 poems and predict each poet's home circuit 道 from text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5262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7091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RQ1 ·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047488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2E2723"/>
                </a:solidFill>
                <a:latin typeface="Calibri"/>
              </a:rPr>
              <a:t>Can a model recover a poet's circuit of origin from their collected work alone?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45262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7091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RQ2 ·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5047488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2E2723"/>
                </a:solidFill>
                <a:latin typeface="Calibri"/>
              </a:rPr>
              <a:t>Which features carry it — lexical choice, imagery, tonal patterns, themes?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45262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47091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RQ3 ·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5047488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2E2723"/>
                </a:solidFill>
                <a:latin typeface="Calibri"/>
              </a:rPr>
              <a:t>Does the fingerprint hold steady across the dynasty's poetic eras?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722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Framed for interpretability throughout — features a literary historian can read and contest.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49,000 poems, 357 poets, ten circuits 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E2723"/>
                </a:solidFill>
                <a:latin typeface="Georgia"/>
              </a:rPr>
              <a:t>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volumes, aggregated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288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A63C2A"/>
                </a:solidFill>
                <a:latin typeface="Georgia"/>
              </a:rPr>
              <a:t>≈49,000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poems parsed into poet-level corpora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A63C2A"/>
                </a:solidFill>
                <a:latin typeface="Georgia"/>
              </a:rPr>
              <a:t>357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poets located via CBDB · ≥5 poems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7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E2723"/>
                </a:solidFill>
                <a:latin typeface="Georgia"/>
              </a:rPr>
              <a:t>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7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poets in the South/North subset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66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Pipeline.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Texts from the Chinese Text Project 中國哲學書電子化計劃; birthplaces linked via the China Biographical Database (CBDB); poets mapped to the ten early-Tang administrative circuits 道.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463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Heavily imbalanced.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Jiangnan 江南 alone has 126 poets; Longyou 隴右 has 6 — so: balanced class weights throughout, macro-F1 reported alongside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Three tasks, three grains of geography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Georgia"/>
              </a:rPr>
              <a:t>South 南 vs North 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A63C2A"/>
                </a:solidFill>
                <a:latin typeface="Calibri"/>
              </a:rPr>
              <a:t>the headline task · 242 poets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 i="0">
                <a:solidFill>
                  <a:srgbClr val="A63C2A"/>
                </a:solidFill>
                <a:latin typeface="Calibri"/>
              </a:rPr>
              <a:t>南  </a:t>
            </a:r>
            <a:r>
              <a:rPr sz="1150" b="0" i="0">
                <a:solidFill>
                  <a:srgbClr val="2E2723"/>
                </a:solidFill>
                <a:latin typeface="Calibri"/>
              </a:rPr>
              <a:t>江南 · 淮南 · 劍南 · 嶺南 · 山南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 i="0">
                <a:solidFill>
                  <a:srgbClr val="2F5A8F"/>
                </a:solidFill>
                <a:latin typeface="Calibri"/>
              </a:rPr>
              <a:t>北  </a:t>
            </a:r>
            <a:r>
              <a:rPr sz="1150" b="0" i="0">
                <a:solidFill>
                  <a:srgbClr val="2E2723"/>
                </a:solidFill>
                <a:latin typeface="Calibri"/>
              </a:rPr>
              <a:t>河北 · 河南 · 河東 · 關內 · 隴右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1">
                <a:solidFill>
                  <a:srgbClr val="8C8478"/>
                </a:solidFill>
                <a:latin typeface="Calibri"/>
              </a:rPr>
              <a:t>The axis the literary-historical debate cares about.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4592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Georgia"/>
              </a:rPr>
              <a:t>3 macro-regions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8C8478"/>
                </a:solidFill>
                <a:latin typeface="Calibri"/>
              </a:rPr>
              <a:t>core vs periphery axis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 i="0">
                <a:solidFill>
                  <a:srgbClr val="A63C2A"/>
                </a:solidFill>
                <a:latin typeface="Calibri"/>
              </a:rPr>
              <a:t>東南 Southeast  </a:t>
            </a:r>
            <a:r>
              <a:rPr sz="1150" b="0" i="0">
                <a:solidFill>
                  <a:srgbClr val="2E2723"/>
                </a:solidFill>
                <a:latin typeface="Calibri"/>
              </a:rPr>
              <a:t>江南 · 淮南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 i="0">
                <a:solidFill>
                  <a:srgbClr val="2F5A8F"/>
                </a:solidFill>
                <a:latin typeface="Calibri"/>
              </a:rPr>
              <a:t>中原 Central Plains  </a:t>
            </a:r>
            <a:r>
              <a:rPr sz="1150" b="0" i="0">
                <a:solidFill>
                  <a:srgbClr val="2E2723"/>
                </a:solidFill>
                <a:latin typeface="Calibri"/>
              </a:rPr>
              <a:t>河北 · 河南 · 河東 · 關內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 i="0">
                <a:solidFill>
                  <a:srgbClr val="8C8478"/>
                </a:solidFill>
                <a:latin typeface="Calibri"/>
              </a:rPr>
              <a:t>邊陲 Frontier  </a:t>
            </a:r>
            <a:r>
              <a:rPr sz="1150" b="0" i="0">
                <a:solidFill>
                  <a:srgbClr val="2E2723"/>
                </a:solidFill>
                <a:latin typeface="Calibri"/>
              </a:rPr>
              <a:t>劍南 · 嶺南 · 山南 · 隴右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Georgia"/>
              </a:rPr>
              <a:t>10 circuits 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8C8478"/>
                </a:solidFill>
                <a:latin typeface="Calibri"/>
              </a:rPr>
              <a:t>the full administrative map · hardest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2E2723"/>
                </a:solidFill>
                <a:latin typeface="Calibri"/>
              </a:rPr>
              <a:t>關內 · 河南 · 河北 · 河東 · 江南 · 淮南 · 山南 · 劍南 · 嶺南 · 隴右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1">
                <a:solidFill>
                  <a:srgbClr val="8C8478"/>
                </a:solidFill>
                <a:latin typeface="Calibri"/>
              </a:rPr>
              <a:t>Many small classes — six poets in the smallest; classes with &lt; 5 poets are dropped from CV.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Two different geographic hypotheses, not one nested hierarchy — </a:t>
            </a:r>
            <a:r>
              <a:rPr sz="1100" b="1" i="0">
                <a:solidFill>
                  <a:srgbClr val="2E2723"/>
                </a:solidFill>
                <a:latin typeface="Calibri"/>
              </a:rPr>
              <a:t>山南·劍南·嶺南 are “south” on the S/N axis but “frontier” on the core–periphery axis.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Readable features, one fair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Character n-gram TF-IDF.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空山新雨後 → 空·山·新·雨·後 + 空山·山新·新雨·雨後. 1–2 grams, ≤8,000 features. No word segmentation, no modern assumptions — characters are the native unit.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Plus features a historian can read: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imagery classes (山·水·草木·鳥獸·天體), seasonal markers, allusion density, lexical richness, tonal patterns 平仄 (approximated).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Georgia"/>
              </a:rPr>
              <a:t>The fair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Five models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LogReg · Linear SVM · Random Forest · MLP · GuwenBERT 古文BERT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2783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Stratified 5-fold CV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every poet held out exactly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03250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Balanced class weights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small circuits not drowned out by Jiangnan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3717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Baseline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“always guess the biggest region” — 0.53 on South/North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Geography is legible from verse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6675120" cy="4380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South vs North · stratified 5-fold CV · 242 poets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78308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10312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 i="0">
                <a:solidFill>
                  <a:srgbClr val="A63C2A"/>
                </a:solidFill>
                <a:latin typeface="Georgia"/>
              </a:rPr>
              <a:t>0.69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154680"/>
            <a:ext cx="3429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2E2723"/>
                </a:solidFill>
                <a:latin typeface="Calibri"/>
              </a:rPr>
              <a:t>accuracy on South vs North — against a 0.53 most-frequent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Macro-F1 0.69 vs 0.35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not an artefact of class imbalance.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A63C2A"/>
                </a:solidFill>
                <a:latin typeface="Calibri"/>
              </a:rPr>
              <a:t>A poet's origin is readable, well above chance, from text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The signal survives at every grain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gr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6217920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macro-F1 by task granularity · each ≈2× its most-frequent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28800"/>
            <a:ext cx="4389120" cy="402336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031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E2723"/>
                </a:solidFill>
                <a:latin typeface="Georgia"/>
              </a:rPr>
              <a:t>Coarse maps are sharper — but even the hardest map is 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15468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A63C2A"/>
                </a:solidFill>
                <a:latin typeface="Calibri"/>
              </a:rPr>
              <a:t>0.69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South/North — the axis of the historical debate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9319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A63C2A"/>
                </a:solidFill>
                <a:latin typeface="Calibri"/>
              </a:rPr>
              <a:t>0.43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3 macro-regions — regional structure persists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70916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A63C2A"/>
                </a:solidFill>
                <a:latin typeface="Calibri"/>
              </a:rPr>
              <a:t>0.18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10 circuits — ≈2× baseline despite six-poet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The centre blurs; Jiangnan stands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fig11b_periphery_reg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5577840" cy="42906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35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A63C2A"/>
                </a:solidFill>
                <a:latin typeface="Calibri"/>
              </a:rPr>
              <a:t>Per-circuit identifiability (recall) vs. distance from Chang'an — the apparent rise is carried by Jiangnan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Near the court, one idiom.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Circuits around Chang'an and Luoyang are heavily confused — the shared court language erases local difference.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A63C2A"/>
                </a:solidFill>
                <a:latin typeface="Calibri"/>
              </a:rPr>
              <a:t>Far from it, a voice of one's own.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Jiangnan 江南 is by far the most separable region — recall 0.71 on the ten-way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34340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52628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Not a distance law.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All six circuits: non-significant (r = 0.45, p = 0.37); drop Jiangnan and the slope reverses (r = −0.89). Two facts, not one gradient.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Imagery carries the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A63C2A"/>
                </a:solidFill>
                <a:latin typeface="Calibri"/>
              </a:rPr>
              <a:t>南  </a:t>
            </a:r>
            <a:r>
              <a:rPr sz="1600" b="1" i="0">
                <a:solidFill>
                  <a:srgbClr val="2E2723"/>
                </a:solidFill>
                <a:latin typeface="Georgia"/>
              </a:rPr>
              <a:t>The South writes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Mountain &amp; water imagery 山水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markedly more than in the north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Buddhist &amp; recluse vocabulary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temples, retreat, withdrawal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Landscape diction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the discriminative characters of the south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F5A8F"/>
                </a:solidFill>
                <a:latin typeface="Calibri"/>
              </a:rPr>
              <a:t>北  </a:t>
            </a:r>
            <a:r>
              <a:rPr sz="1600" b="1" i="0">
                <a:solidFill>
                  <a:srgbClr val="2E2723"/>
                </a:solidFill>
                <a:latin typeface="Georgia"/>
              </a:rPr>
              <a:t>The North writes the court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Palace diction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the built world of the capitals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Gongti 宮體 motifs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courtly “boudoir” poetry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Court-idiom characters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the discriminative characters of the north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749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>Tonal patterns 平仄 carry comparatively weak signal — </a:t>
            </a:r>
            <a:r>
              <a:rPr sz="1300" b="1" i="0">
                <a:solidFill>
                  <a:srgbClr val="2E2723"/>
                </a:solidFill>
                <a:latin typeface="Calibri"/>
              </a:rPr>
              <a:t>the fingerprint lives in what poets see, not in how their verses scan.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The fingerprint waxes and wanes with the dynasty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6035040" cy="3960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82880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初唐 0.41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southern poets assimilate — all 7 full-model errors run south → north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78892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盛唐 0.50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at chance — maximum integration at the empire's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74903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中唐 0.53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after the An Lushan rebellion, regional voices begin to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70916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晚唐 0.68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as central authority weakens, separability peaks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7150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Regional distinctiveness waxes and wanes with the political integration of the dynasty.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STRESS TEST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Do transformers read anything more?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0.62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Naive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08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GuwenBERT per fragment — below the n-gram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37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F5A8F"/>
                </a:solidFill>
                <a:latin typeface="Georgia"/>
              </a:rPr>
              <a:t>0.674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Hierarchical frozen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08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pool fragments over a poet's corpus — ties the best classical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737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+ 0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Hybrid BERT + 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108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combining the two adds nothing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5312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A63C2A"/>
                </a:solidFill>
                <a:latin typeface="Calibri"/>
              </a:rPr>
              <a:t>Character n-grams already capture the available regional signal — interpretability costs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406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Read with care: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small samples (357 / 242 / era subsets 25–43) · labels inherit CTP + CBDB noise · tone approximated · distance decay suggestive (r = 0.40, Mantel p ≈ 0.09). All four point the same way: more data would sharpen, not overturn.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22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F2EEE7"/>
                </a:solidFill>
                <a:latin typeface="Georgia"/>
              </a:rPr>
              <a:t>A Tang poet's origin leaves a computationally detectable trace in their verse.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081528"/>
            <a:ext cx="109728" cy="109728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9718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Carried chiefly by imagery and lexical choice  —  </a:t>
            </a:r>
            <a:r>
              <a:rPr sz="1400" b="0" i="0">
                <a:solidFill>
                  <a:srgbClr val="C9C2B8"/>
                </a:solidFill>
                <a:latin typeface="Calibri"/>
              </a:rPr>
              <a:t>mountains and waters in the south; palace and gongti diction in the north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58768"/>
            <a:ext cx="109728" cy="109728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Not a simple distance law  —  </a:t>
            </a:r>
            <a:r>
              <a:rPr sz="1400" b="0" i="0">
                <a:solidFill>
                  <a:srgbClr val="C9C2B8"/>
                </a:solidFill>
                <a:latin typeface="Calibri"/>
              </a:rPr>
              <a:t>the capitals blur into one court idiom — Jiangnan alone keeps a voice of its 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36008"/>
            <a:ext cx="109728" cy="109728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Modulated by history  —  </a:t>
            </a:r>
            <a:r>
              <a:rPr sz="1400" b="0" i="0">
                <a:solidFill>
                  <a:srgbClr val="C9C2B8"/>
                </a:solidFill>
                <a:latin typeface="Calibri"/>
              </a:rPr>
              <a:t>at chance amid High-Tang integration; strongest (0.68) as Late-Tang authority wanes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86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Next:  </a:t>
            </a:r>
            <a:r>
              <a:rPr sz="1200" b="0" i="0">
                <a:solidFill>
                  <a:srgbClr val="C9C2B8"/>
                </a:solidFill>
                <a:latin typeface="Calibri"/>
              </a:rPr>
              <a:t>stylistic similarity networks — does textual proximity track geography, or transcend it through literary influence?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26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2EEE7"/>
                </a:solidFill>
                <a:latin typeface="Calibri"/>
              </a:rPr>
              <a:t>謝謝  Thank you</a:t>
            </a:r>
            <a:r>
              <a:rPr sz="1100" b="0" i="0">
                <a:solidFill>
                  <a:srgbClr val="8C8478"/>
                </a:solidFill>
                <a:latin typeface="Calibri"/>
              </a:rPr>
              <a:t>   ·   arXiv:2606.24093   ·   Chen &amp; Liu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1188720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1965960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2743200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3520439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20272" y="4572000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